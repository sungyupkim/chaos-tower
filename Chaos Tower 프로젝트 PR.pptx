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C70DFC-F2C5-434D-8797-E7E798A991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F25EA7-2A85-40F0-91C4-4080506B52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6C225EA-B2D3-4138-AD61-EC918B1D31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A11465D-5A7E-464A-A0D0-CA6076FEA0F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7A66779-C2B9-43F1-9926-46B579D3A7B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F033D00-0259-4FD2-B6EE-0292E4E2F37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D65CCFF-BE90-4811-869E-6188EA92F8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AE341A78-0299-4F92-AEAF-3E861DF925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1EFC0B4-E254-43F3-9000-8420819E9D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807959D-E301-460D-B9CF-CE421B81BF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038D3E59-8D78-4A91-8AF1-96744B73EC0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B17E527-4A3D-4032-9818-A3D77713A43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C6F28E-E52D-47F4-8954-BE8D6721A87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1D2E1FF-8B63-48C8-BC93-71BC2722298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1A87FB8-97BB-41A0-9C9F-7B74A54E70D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32A5D6-C5CB-49D7-9414-A2C47B0B9EC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39B5174-EBC9-4831-90B8-DF1DAB50730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F78AA2-395D-4BAA-A4F8-DF7995EF8E5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B1B4C8-9C66-4BC4-8606-931D1FA2FD0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ABA17BB-355D-44DE-91D3-357ABA5FC63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F5EBADB-FEF3-4EFB-8D47-21251C912D4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6E09156-3F62-4258-B7C0-96CE8106070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6263640"/>
            <a:ext cx="12191400" cy="594000"/>
          </a:xfrm>
          <a:prstGeom prst="roundRect">
            <a:avLst>
              <a:gd name="adj" fmla="val 5000"/>
            </a:avLst>
          </a:prstGeom>
          <a:solidFill>
            <a:srgbClr val="0c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8778240" y="6419160"/>
            <a:ext cx="29257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CHAOS TOWER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822960" y="1417320"/>
            <a:ext cx="365724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CHAOS TOWER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Rectangle 4"/>
          <p:cNvSpPr/>
          <p:nvPr/>
        </p:nvSpPr>
        <p:spPr>
          <a:xfrm>
            <a:off x="822960" y="1965960"/>
            <a:ext cx="4114440" cy="456840"/>
          </a:xfrm>
          <a:prstGeom prst="roundRect">
            <a:avLst>
              <a:gd name="adj" fmla="val 5000"/>
            </a:avLst>
          </a:prstGeom>
          <a:solidFill>
            <a:srgbClr val="0c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960120" y="2030040"/>
            <a:ext cx="39315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회전 컨베이어 타워 디펜스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804600" y="2606040"/>
            <a:ext cx="6857640" cy="178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ko-KR" sz="3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속성 상성과 가챠 강화로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</a:pPr>
            <a:r>
              <a:rPr b="1" lang="ko-KR" sz="3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매판 다른 재미를 만드는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</a:pPr>
            <a:r>
              <a:rPr b="1" lang="ko-KR" sz="3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모바일 캐주얼 디펜스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822960" y="4526280"/>
            <a:ext cx="54860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Chaos Tower </a:t>
            </a:r>
            <a:r>
              <a:rPr b="0" lang="ko-KR" sz="14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개발팀  </a:t>
            </a:r>
            <a:r>
              <a:rPr b="0" lang="en-US" sz="14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|  Unity 6 · Android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Donut 8"/>
          <p:cNvSpPr/>
          <p:nvPr/>
        </p:nvSpPr>
        <p:spPr>
          <a:xfrm>
            <a:off x="7863840" y="1645920"/>
            <a:ext cx="3291480" cy="3291480"/>
          </a:xfrm>
          <a:prstGeom prst="donut">
            <a:avLst>
              <a:gd name="adj" fmla="val 6000"/>
            </a:avLst>
          </a:prstGeom>
          <a:solidFill>
            <a:srgbClr val="006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Donut 9"/>
          <p:cNvSpPr/>
          <p:nvPr/>
        </p:nvSpPr>
        <p:spPr>
          <a:xfrm>
            <a:off x="8161200" y="1943280"/>
            <a:ext cx="2697120" cy="2697120"/>
          </a:xfrm>
          <a:prstGeom prst="donut">
            <a:avLst>
              <a:gd name="adj" fmla="val 6000"/>
            </a:avLst>
          </a:prstGeom>
          <a:solidFill>
            <a:srgbClr val="3d8b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Donut 10"/>
          <p:cNvSpPr/>
          <p:nvPr/>
        </p:nvSpPr>
        <p:spPr>
          <a:xfrm>
            <a:off x="8458200" y="2240280"/>
            <a:ext cx="2102760" cy="2102760"/>
          </a:xfrm>
          <a:prstGeom prst="donut">
            <a:avLst>
              <a:gd name="adj" fmla="val 6000"/>
            </a:avLst>
          </a:prstGeom>
          <a:solidFill>
            <a:srgbClr val="0c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11"/>
          <p:cNvSpPr/>
          <p:nvPr/>
        </p:nvSpPr>
        <p:spPr>
          <a:xfrm>
            <a:off x="8732520" y="3127320"/>
            <a:ext cx="155412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32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🗼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>
          <a:xfrm>
            <a:off x="502920" y="567000"/>
            <a:ext cx="31680" cy="200880"/>
          </a:xfrm>
          <a:prstGeom prst="roundRect">
            <a:avLst>
              <a:gd name="adj" fmla="val 5000"/>
            </a:avLst>
          </a:prstGeom>
          <a:solidFill>
            <a:srgbClr val="006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2"/>
          <p:cNvSpPr/>
          <p:nvPr/>
        </p:nvSpPr>
        <p:spPr>
          <a:xfrm>
            <a:off x="594360" y="530280"/>
            <a:ext cx="10515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Chaos Tower </a:t>
            </a:r>
            <a:r>
              <a:rPr b="1" lang="ko-KR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프로젝트 소개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3"/>
          <p:cNvSpPr/>
          <p:nvPr/>
        </p:nvSpPr>
        <p:spPr>
          <a:xfrm>
            <a:off x="548640" y="2468880"/>
            <a:ext cx="320004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Agenda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ectangle 4"/>
          <p:cNvSpPr/>
          <p:nvPr/>
        </p:nvSpPr>
        <p:spPr>
          <a:xfrm>
            <a:off x="4297680" y="1188720"/>
            <a:ext cx="7223400" cy="4480200"/>
          </a:xfrm>
          <a:prstGeom prst="roundRect">
            <a:avLst>
              <a:gd name="adj" fmla="val 5000"/>
            </a:avLst>
          </a:prstGeom>
          <a:solidFill>
            <a:srgbClr val="0c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5"/>
          <p:cNvSpPr/>
          <p:nvPr/>
        </p:nvSpPr>
        <p:spPr>
          <a:xfrm>
            <a:off x="4709160" y="1828800"/>
            <a:ext cx="54828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1.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6"/>
          <p:cNvSpPr/>
          <p:nvPr/>
        </p:nvSpPr>
        <p:spPr>
          <a:xfrm>
            <a:off x="5212080" y="1828800"/>
            <a:ext cx="594324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프로젝트 개요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7"/>
          <p:cNvSpPr/>
          <p:nvPr/>
        </p:nvSpPr>
        <p:spPr>
          <a:xfrm>
            <a:off x="4709160" y="2880360"/>
            <a:ext cx="54828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2.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8"/>
          <p:cNvSpPr/>
          <p:nvPr/>
        </p:nvSpPr>
        <p:spPr>
          <a:xfrm>
            <a:off x="5212080" y="2880360"/>
            <a:ext cx="594324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핵심 게임 메커니즘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9"/>
          <p:cNvSpPr/>
          <p:nvPr/>
        </p:nvSpPr>
        <p:spPr>
          <a:xfrm>
            <a:off x="4709160" y="3931920"/>
            <a:ext cx="54828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3.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10"/>
          <p:cNvSpPr/>
          <p:nvPr/>
        </p:nvSpPr>
        <p:spPr>
          <a:xfrm>
            <a:off x="5212080" y="3931920"/>
            <a:ext cx="594324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개발 현황 및 향후 계획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11"/>
          <p:cNvSpPr/>
          <p:nvPr/>
        </p:nvSpPr>
        <p:spPr>
          <a:xfrm>
            <a:off x="5486400" y="6528960"/>
            <a:ext cx="1096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2/16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12"/>
          <p:cNvSpPr/>
          <p:nvPr/>
        </p:nvSpPr>
        <p:spPr>
          <a:xfrm>
            <a:off x="8686800" y="6528960"/>
            <a:ext cx="32914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Chaos Tower Project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"/>
          <p:cNvSpPr/>
          <p:nvPr/>
        </p:nvSpPr>
        <p:spPr>
          <a:xfrm>
            <a:off x="914400" y="822960"/>
            <a:ext cx="10332360" cy="5211720"/>
          </a:xfrm>
          <a:prstGeom prst="roundRect">
            <a:avLst>
              <a:gd name="adj" fmla="val 5000"/>
            </a:avLst>
          </a:prstGeom>
          <a:solidFill>
            <a:srgbClr val="0c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1371600" y="2331720"/>
            <a:ext cx="182844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01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Rectangle 3"/>
          <p:cNvSpPr/>
          <p:nvPr/>
        </p:nvSpPr>
        <p:spPr>
          <a:xfrm>
            <a:off x="2148840" y="2697480"/>
            <a:ext cx="3840120" cy="14760"/>
          </a:xfrm>
          <a:prstGeom prst="roundRect">
            <a:avLst>
              <a:gd name="adj" fmla="val 5000"/>
            </a:avLst>
          </a:prstGeom>
          <a:solidFill>
            <a:srgbClr val="3d8b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0240" bIns="-30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4"/>
          <p:cNvSpPr/>
          <p:nvPr/>
        </p:nvSpPr>
        <p:spPr>
          <a:xfrm>
            <a:off x="1371600" y="2971800"/>
            <a:ext cx="8229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6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프로젝트 개요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5"/>
          <p:cNvSpPr/>
          <p:nvPr/>
        </p:nvSpPr>
        <p:spPr>
          <a:xfrm>
            <a:off x="5486400" y="6528960"/>
            <a:ext cx="1096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3/16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6"/>
          <p:cNvSpPr/>
          <p:nvPr/>
        </p:nvSpPr>
        <p:spPr>
          <a:xfrm>
            <a:off x="8686800" y="6528960"/>
            <a:ext cx="32914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Chaos Tower Project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"/>
          <p:cNvSpPr/>
          <p:nvPr/>
        </p:nvSpPr>
        <p:spPr>
          <a:xfrm>
            <a:off x="502920" y="567000"/>
            <a:ext cx="31680" cy="200880"/>
          </a:xfrm>
          <a:prstGeom prst="roundRect">
            <a:avLst>
              <a:gd name="adj" fmla="val 5000"/>
            </a:avLst>
          </a:prstGeom>
          <a:solidFill>
            <a:srgbClr val="006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594360" y="530280"/>
            <a:ext cx="10515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1. </a:t>
            </a:r>
            <a:r>
              <a:rPr b="1" lang="ko-KR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프로젝트 개요 </a:t>
            </a:r>
            <a:r>
              <a:rPr b="1" lang="en-US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&gt; </a:t>
            </a:r>
            <a:r>
              <a:rPr b="1" lang="ko-KR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게임 한눈에 보기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502920" y="868680"/>
            <a:ext cx="111553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스와이프로 컨베이어를 돌려 타워를 배치하는 회전형 디펜스 게임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4"/>
          <p:cNvSpPr/>
          <p:nvPr/>
        </p:nvSpPr>
        <p:spPr>
          <a:xfrm>
            <a:off x="5486400" y="6528960"/>
            <a:ext cx="1096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4/16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5"/>
          <p:cNvSpPr/>
          <p:nvPr/>
        </p:nvSpPr>
        <p:spPr>
          <a:xfrm>
            <a:off x="8686800" y="6528960"/>
            <a:ext cx="32914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Chaos Tower Project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Oval 6"/>
          <p:cNvSpPr/>
          <p:nvPr/>
        </p:nvSpPr>
        <p:spPr>
          <a:xfrm>
            <a:off x="502920" y="1783080"/>
            <a:ext cx="3382920" cy="1645560"/>
          </a:xfrm>
          <a:prstGeom prst="roundRect">
            <a:avLst>
              <a:gd name="adj" fmla="val 50000"/>
            </a:avLst>
          </a:prstGeom>
          <a:solidFill>
            <a:srgbClr val="006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7"/>
          <p:cNvSpPr/>
          <p:nvPr/>
        </p:nvSpPr>
        <p:spPr>
          <a:xfrm>
            <a:off x="502920" y="2454120"/>
            <a:ext cx="338292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장르 </a:t>
            </a:r>
            <a:r>
              <a:rPr b="1" lang="en-US" sz="17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/ </a:t>
            </a:r>
            <a:r>
              <a:rPr b="1" lang="ko-KR" sz="17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플랫폼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8"/>
          <p:cNvSpPr/>
          <p:nvPr/>
        </p:nvSpPr>
        <p:spPr>
          <a:xfrm>
            <a:off x="502920" y="3657600"/>
            <a:ext cx="33829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▾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9"/>
          <p:cNvSpPr/>
          <p:nvPr/>
        </p:nvSpPr>
        <p:spPr>
          <a:xfrm>
            <a:off x="640080" y="4023360"/>
            <a:ext cx="3108600" cy="5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ko-KR" sz="13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모바일 캐주얼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ko-KR" sz="13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타워 디펜스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(Android, </a:t>
            </a:r>
            <a:r>
              <a:rPr b="0" lang="ko-KR" sz="13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가로 모드</a:t>
            </a:r>
            <a:r>
              <a:rPr b="0" lang="en-US" sz="13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Oval 10"/>
          <p:cNvSpPr/>
          <p:nvPr/>
        </p:nvSpPr>
        <p:spPr>
          <a:xfrm>
            <a:off x="4297680" y="1783080"/>
            <a:ext cx="3382920" cy="1645560"/>
          </a:xfrm>
          <a:prstGeom prst="roundRect">
            <a:avLst>
              <a:gd name="adj" fmla="val 50000"/>
            </a:avLst>
          </a:prstGeom>
          <a:solidFill>
            <a:srgbClr val="006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11"/>
          <p:cNvSpPr/>
          <p:nvPr/>
        </p:nvSpPr>
        <p:spPr>
          <a:xfrm>
            <a:off x="4297680" y="2440440"/>
            <a:ext cx="338292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한 줄 컨셉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12"/>
          <p:cNvSpPr/>
          <p:nvPr/>
        </p:nvSpPr>
        <p:spPr>
          <a:xfrm>
            <a:off x="4297680" y="3657600"/>
            <a:ext cx="33829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▾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13"/>
          <p:cNvSpPr/>
          <p:nvPr/>
        </p:nvSpPr>
        <p:spPr>
          <a:xfrm>
            <a:off x="4434840" y="4023360"/>
            <a:ext cx="3108600" cy="5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ko-KR" sz="13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타워는 고정</a:t>
            </a:r>
            <a:r>
              <a:rPr b="0" lang="en-US" sz="13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,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ko-KR" sz="13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컨베이어 벨트가 돌며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ko-KR" sz="13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적과의 상성을 맞춘다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Oval 14"/>
          <p:cNvSpPr/>
          <p:nvPr/>
        </p:nvSpPr>
        <p:spPr>
          <a:xfrm>
            <a:off x="8092440" y="1783080"/>
            <a:ext cx="3382920" cy="1645560"/>
          </a:xfrm>
          <a:prstGeom prst="roundRect">
            <a:avLst>
              <a:gd name="adj" fmla="val 50000"/>
            </a:avLst>
          </a:prstGeom>
          <a:solidFill>
            <a:srgbClr val="006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15"/>
          <p:cNvSpPr/>
          <p:nvPr/>
        </p:nvSpPr>
        <p:spPr>
          <a:xfrm>
            <a:off x="8092440" y="2440440"/>
            <a:ext cx="338292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개발 단계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16"/>
          <p:cNvSpPr/>
          <p:nvPr/>
        </p:nvSpPr>
        <p:spPr>
          <a:xfrm>
            <a:off x="8092440" y="3657600"/>
            <a:ext cx="33829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▾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17"/>
          <p:cNvSpPr/>
          <p:nvPr/>
        </p:nvSpPr>
        <p:spPr>
          <a:xfrm>
            <a:off x="8229600" y="4023360"/>
            <a:ext cx="3108600" cy="5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ko-KR" sz="13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핵심 루프 구현 완료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Android </a:t>
            </a:r>
            <a:r>
              <a:rPr b="0" lang="ko-KR" sz="13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빌드 파이프라인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ko-KR" sz="13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자동화 진행 중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"/>
          <p:cNvSpPr/>
          <p:nvPr/>
        </p:nvSpPr>
        <p:spPr>
          <a:xfrm>
            <a:off x="502920" y="567000"/>
            <a:ext cx="31680" cy="200880"/>
          </a:xfrm>
          <a:prstGeom prst="roundRect">
            <a:avLst>
              <a:gd name="adj" fmla="val 5000"/>
            </a:avLst>
          </a:prstGeom>
          <a:solidFill>
            <a:srgbClr val="006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2"/>
          <p:cNvSpPr/>
          <p:nvPr/>
        </p:nvSpPr>
        <p:spPr>
          <a:xfrm>
            <a:off x="594360" y="530280"/>
            <a:ext cx="10515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1. </a:t>
            </a:r>
            <a:r>
              <a:rPr b="1" lang="ko-KR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프로젝트 개요 </a:t>
            </a:r>
            <a:r>
              <a:rPr b="1" lang="en-US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&gt; </a:t>
            </a:r>
            <a:r>
              <a:rPr b="1" lang="ko-KR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기획 의도 및 차별점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502920" y="868680"/>
            <a:ext cx="111553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반복되는 디펜스 장르에 “조작하는 재미”와 “뽑는 재미”를 더하다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4"/>
          <p:cNvSpPr/>
          <p:nvPr/>
        </p:nvSpPr>
        <p:spPr>
          <a:xfrm>
            <a:off x="5486400" y="6528960"/>
            <a:ext cx="1096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5/16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5"/>
          <p:cNvSpPr/>
          <p:nvPr/>
        </p:nvSpPr>
        <p:spPr>
          <a:xfrm>
            <a:off x="8686800" y="6528960"/>
            <a:ext cx="32914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Chaos Tower Project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Oval 6"/>
          <p:cNvSpPr/>
          <p:nvPr/>
        </p:nvSpPr>
        <p:spPr>
          <a:xfrm>
            <a:off x="502920" y="1783080"/>
            <a:ext cx="3382920" cy="1645560"/>
          </a:xfrm>
          <a:prstGeom prst="roundRect">
            <a:avLst>
              <a:gd name="adj" fmla="val 50000"/>
            </a:avLst>
          </a:prstGeom>
          <a:solidFill>
            <a:srgbClr val="0c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7"/>
          <p:cNvSpPr/>
          <p:nvPr/>
        </p:nvSpPr>
        <p:spPr>
          <a:xfrm>
            <a:off x="502920" y="2425320"/>
            <a:ext cx="33829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ko-KR" sz="1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회전 컨베이어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8"/>
          <p:cNvSpPr/>
          <p:nvPr/>
        </p:nvSpPr>
        <p:spPr>
          <a:xfrm>
            <a:off x="502920" y="3657600"/>
            <a:ext cx="33829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c3357"/>
                </a:solidFill>
                <a:latin typeface="Malgun Gothic"/>
                <a:ea typeface="Malgun Gothic"/>
              </a:rPr>
              <a:t>▾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9"/>
          <p:cNvSpPr/>
          <p:nvPr/>
        </p:nvSpPr>
        <p:spPr>
          <a:xfrm>
            <a:off x="640080" y="4023360"/>
            <a:ext cx="3108600" cy="5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ko-KR" sz="13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타워를 직접 옮기지 않고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ko-KR" sz="13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벨트를 스와이프로 회전시켜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ko-KR" sz="13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타워 위치를 조율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Oval 10"/>
          <p:cNvSpPr/>
          <p:nvPr/>
        </p:nvSpPr>
        <p:spPr>
          <a:xfrm>
            <a:off x="4297680" y="1783080"/>
            <a:ext cx="3382920" cy="1645560"/>
          </a:xfrm>
          <a:prstGeom prst="roundRect">
            <a:avLst>
              <a:gd name="adj" fmla="val 50000"/>
            </a:avLst>
          </a:prstGeom>
          <a:solidFill>
            <a:srgbClr val="0c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11"/>
          <p:cNvSpPr/>
          <p:nvPr/>
        </p:nvSpPr>
        <p:spPr>
          <a:xfrm>
            <a:off x="4297680" y="2425320"/>
            <a:ext cx="33829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ko-KR" sz="1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속성 상성 전투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12"/>
          <p:cNvSpPr/>
          <p:nvPr/>
        </p:nvSpPr>
        <p:spPr>
          <a:xfrm>
            <a:off x="4297680" y="3657600"/>
            <a:ext cx="33829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c3357"/>
                </a:solidFill>
                <a:latin typeface="Malgun Gothic"/>
                <a:ea typeface="Malgun Gothic"/>
              </a:rPr>
              <a:t>▾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13"/>
          <p:cNvSpPr/>
          <p:nvPr/>
        </p:nvSpPr>
        <p:spPr>
          <a:xfrm>
            <a:off x="4434840" y="4023360"/>
            <a:ext cx="3108600" cy="5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Fire→Earth→Lightning→Water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ko-KR" sz="13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순환 상성으로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2</a:t>
            </a:r>
            <a:r>
              <a:rPr b="0" lang="ko-KR" sz="13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배 </a:t>
            </a:r>
            <a:r>
              <a:rPr b="0" lang="en-US" sz="13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/ 0.5</a:t>
            </a:r>
            <a:r>
              <a:rPr b="0" lang="ko-KR" sz="13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배 데미지 변동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Oval 14"/>
          <p:cNvSpPr/>
          <p:nvPr/>
        </p:nvSpPr>
        <p:spPr>
          <a:xfrm>
            <a:off x="8092440" y="1783080"/>
            <a:ext cx="3382920" cy="1645560"/>
          </a:xfrm>
          <a:prstGeom prst="roundRect">
            <a:avLst>
              <a:gd name="adj" fmla="val 50000"/>
            </a:avLst>
          </a:prstGeom>
          <a:solidFill>
            <a:srgbClr val="0c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TextBox 15"/>
          <p:cNvSpPr/>
          <p:nvPr/>
        </p:nvSpPr>
        <p:spPr>
          <a:xfrm>
            <a:off x="8092440" y="2425320"/>
            <a:ext cx="33829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ko-KR" sz="1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가챠형 강화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16"/>
          <p:cNvSpPr/>
          <p:nvPr/>
        </p:nvSpPr>
        <p:spPr>
          <a:xfrm>
            <a:off x="8092440" y="3657600"/>
            <a:ext cx="33829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c3357"/>
                </a:solidFill>
                <a:latin typeface="Malgun Gothic"/>
                <a:ea typeface="Malgun Gothic"/>
              </a:rPr>
              <a:t>▾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17"/>
          <p:cNvSpPr/>
          <p:nvPr/>
        </p:nvSpPr>
        <p:spPr>
          <a:xfrm>
            <a:off x="8229600" y="4023360"/>
            <a:ext cx="3108600" cy="5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ko-KR" sz="13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타워 레벨업 시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ko-KR" sz="13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등급별 확률로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ko-KR" sz="13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공격 모드 획득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"/>
          <p:cNvSpPr/>
          <p:nvPr/>
        </p:nvSpPr>
        <p:spPr>
          <a:xfrm>
            <a:off x="914400" y="822960"/>
            <a:ext cx="10332360" cy="5211720"/>
          </a:xfrm>
          <a:prstGeom prst="roundRect">
            <a:avLst>
              <a:gd name="adj" fmla="val 5000"/>
            </a:avLst>
          </a:prstGeom>
          <a:solidFill>
            <a:srgbClr val="0c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TextBox 2"/>
          <p:cNvSpPr/>
          <p:nvPr/>
        </p:nvSpPr>
        <p:spPr>
          <a:xfrm>
            <a:off x="1371600" y="2331720"/>
            <a:ext cx="182844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02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Rectangle 3"/>
          <p:cNvSpPr/>
          <p:nvPr/>
        </p:nvSpPr>
        <p:spPr>
          <a:xfrm>
            <a:off x="2148840" y="2697480"/>
            <a:ext cx="3840120" cy="14760"/>
          </a:xfrm>
          <a:prstGeom prst="roundRect">
            <a:avLst>
              <a:gd name="adj" fmla="val 5000"/>
            </a:avLst>
          </a:prstGeom>
          <a:solidFill>
            <a:srgbClr val="3d8b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0240" bIns="-30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TextBox 4"/>
          <p:cNvSpPr/>
          <p:nvPr/>
        </p:nvSpPr>
        <p:spPr>
          <a:xfrm>
            <a:off x="1371600" y="2971800"/>
            <a:ext cx="8229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6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핵심 게임 메커니즘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5"/>
          <p:cNvSpPr/>
          <p:nvPr/>
        </p:nvSpPr>
        <p:spPr>
          <a:xfrm>
            <a:off x="5486400" y="6528960"/>
            <a:ext cx="1096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6/16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6"/>
          <p:cNvSpPr/>
          <p:nvPr/>
        </p:nvSpPr>
        <p:spPr>
          <a:xfrm>
            <a:off x="8686800" y="6528960"/>
            <a:ext cx="32914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Chaos Tower Project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"/>
          <p:cNvSpPr/>
          <p:nvPr/>
        </p:nvSpPr>
        <p:spPr>
          <a:xfrm>
            <a:off x="502920" y="567000"/>
            <a:ext cx="31680" cy="200880"/>
          </a:xfrm>
          <a:prstGeom prst="roundRect">
            <a:avLst>
              <a:gd name="adj" fmla="val 5000"/>
            </a:avLst>
          </a:prstGeom>
          <a:solidFill>
            <a:srgbClr val="006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TextBox 2"/>
          <p:cNvSpPr/>
          <p:nvPr/>
        </p:nvSpPr>
        <p:spPr>
          <a:xfrm>
            <a:off x="594360" y="530280"/>
            <a:ext cx="10515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2. </a:t>
            </a:r>
            <a:r>
              <a:rPr b="1" lang="ko-KR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핵심 게임 메커니즘 </a:t>
            </a:r>
            <a:r>
              <a:rPr b="1" lang="en-US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&gt; </a:t>
            </a:r>
            <a:r>
              <a:rPr b="1" lang="ko-KR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게임 루프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3"/>
          <p:cNvSpPr/>
          <p:nvPr/>
        </p:nvSpPr>
        <p:spPr>
          <a:xfrm>
            <a:off x="502920" y="868680"/>
            <a:ext cx="111553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시간이 지날수록 적 스폰 간격이 짧아지는 무한 웨이브 구조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4"/>
          <p:cNvSpPr/>
          <p:nvPr/>
        </p:nvSpPr>
        <p:spPr>
          <a:xfrm>
            <a:off x="5486400" y="6528960"/>
            <a:ext cx="1096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7/16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5"/>
          <p:cNvSpPr/>
          <p:nvPr/>
        </p:nvSpPr>
        <p:spPr>
          <a:xfrm>
            <a:off x="8686800" y="6528960"/>
            <a:ext cx="32914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Chaos Tower Project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Rectangle 6"/>
          <p:cNvSpPr/>
          <p:nvPr/>
        </p:nvSpPr>
        <p:spPr>
          <a:xfrm>
            <a:off x="914400" y="2011680"/>
            <a:ext cx="2377080" cy="914040"/>
          </a:xfrm>
          <a:prstGeom prst="roundRect">
            <a:avLst>
              <a:gd name="adj" fmla="val 5000"/>
            </a:avLst>
          </a:prstGeom>
          <a:solidFill>
            <a:srgbClr val="006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TextBox 7"/>
          <p:cNvSpPr/>
          <p:nvPr/>
        </p:nvSpPr>
        <p:spPr>
          <a:xfrm>
            <a:off x="914400" y="2331720"/>
            <a:ext cx="23770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Ready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8"/>
          <p:cNvSpPr/>
          <p:nvPr/>
        </p:nvSpPr>
        <p:spPr>
          <a:xfrm>
            <a:off x="3291840" y="2148840"/>
            <a:ext cx="127980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600" spc="-1" strike="noStrike">
                <a:solidFill>
                  <a:srgbClr val="0c3357"/>
                </a:solidFill>
                <a:latin typeface="Malgun Gothic"/>
                <a:ea typeface="Malgun Gothic"/>
              </a:rPr>
              <a:t>→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Rectangle 9"/>
          <p:cNvSpPr/>
          <p:nvPr/>
        </p:nvSpPr>
        <p:spPr>
          <a:xfrm>
            <a:off x="4572000" y="2011680"/>
            <a:ext cx="2377080" cy="914040"/>
          </a:xfrm>
          <a:prstGeom prst="roundRect">
            <a:avLst>
              <a:gd name="adj" fmla="val 5000"/>
            </a:avLst>
          </a:prstGeom>
          <a:solidFill>
            <a:srgbClr val="006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TextBox 10"/>
          <p:cNvSpPr/>
          <p:nvPr/>
        </p:nvSpPr>
        <p:spPr>
          <a:xfrm>
            <a:off x="4572000" y="2331720"/>
            <a:ext cx="23770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Playing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11"/>
          <p:cNvSpPr/>
          <p:nvPr/>
        </p:nvSpPr>
        <p:spPr>
          <a:xfrm>
            <a:off x="6949440" y="2148840"/>
            <a:ext cx="127980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600" spc="-1" strike="noStrike">
                <a:solidFill>
                  <a:srgbClr val="0c3357"/>
                </a:solidFill>
                <a:latin typeface="Malgun Gothic"/>
                <a:ea typeface="Malgun Gothic"/>
              </a:rPr>
              <a:t>→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Rectangle 12"/>
          <p:cNvSpPr/>
          <p:nvPr/>
        </p:nvSpPr>
        <p:spPr>
          <a:xfrm>
            <a:off x="8229600" y="2011680"/>
            <a:ext cx="2377080" cy="914040"/>
          </a:xfrm>
          <a:prstGeom prst="roundRect">
            <a:avLst>
              <a:gd name="adj" fmla="val 5000"/>
            </a:avLst>
          </a:prstGeom>
          <a:solidFill>
            <a:srgbClr val="006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TextBox 13"/>
          <p:cNvSpPr/>
          <p:nvPr/>
        </p:nvSpPr>
        <p:spPr>
          <a:xfrm>
            <a:off x="8229600" y="2331720"/>
            <a:ext cx="23770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Game Over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14"/>
          <p:cNvSpPr/>
          <p:nvPr/>
        </p:nvSpPr>
        <p:spPr>
          <a:xfrm>
            <a:off x="914400" y="3474720"/>
            <a:ext cx="10058040" cy="13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40000"/>
              </a:lnSpc>
            </a:pPr>
            <a:r>
              <a:rPr b="0" lang="en-US" sz="16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•  </a:t>
            </a:r>
            <a:r>
              <a:rPr b="0" lang="ko-KR" sz="16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기지 체력 </a:t>
            </a:r>
            <a:r>
              <a:rPr b="0" lang="en-US" sz="16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20</a:t>
            </a:r>
            <a:r>
              <a:rPr b="0" lang="ko-KR" sz="16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에서 시작</a:t>
            </a:r>
            <a:r>
              <a:rPr b="0" lang="en-US" sz="16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, </a:t>
            </a:r>
            <a:r>
              <a:rPr b="0" lang="ko-KR" sz="16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적 도달 시 체력 감소 → </a:t>
            </a:r>
            <a:r>
              <a:rPr b="0" lang="en-US" sz="16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0</a:t>
            </a:r>
            <a:r>
              <a:rPr b="0" lang="ko-KR" sz="16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이면 </a:t>
            </a:r>
            <a:r>
              <a:rPr b="0" lang="en-US" sz="16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Game Over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40000"/>
              </a:lnSpc>
            </a:pPr>
            <a:r>
              <a:rPr b="0" lang="en-US" sz="16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•  </a:t>
            </a:r>
            <a:r>
              <a:rPr b="0" lang="ko-KR" sz="16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적은 시간 기반 절차 생성</a:t>
            </a:r>
            <a:r>
              <a:rPr b="0" lang="en-US" sz="16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(SpawnProceduralEnemy) — 30</a:t>
            </a:r>
            <a:r>
              <a:rPr b="0" lang="ko-KR" sz="16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초마다 난이도 </a:t>
            </a:r>
            <a:r>
              <a:rPr b="0" lang="en-US" sz="16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+1 </a:t>
            </a:r>
            <a:r>
              <a:rPr b="0" lang="ko-KR" sz="16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상승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40000"/>
              </a:lnSpc>
            </a:pPr>
            <a:r>
              <a:rPr b="0" lang="en-US" sz="16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•  </a:t>
            </a:r>
            <a:r>
              <a:rPr b="0" lang="ko-KR" sz="16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스폰 간격은 </a:t>
            </a:r>
            <a:r>
              <a:rPr b="0" lang="en-US" sz="16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2.5</a:t>
            </a:r>
            <a:r>
              <a:rPr b="0" lang="ko-KR" sz="16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초 → 최소 </a:t>
            </a:r>
            <a:r>
              <a:rPr b="0" lang="en-US" sz="16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0.4</a:t>
            </a:r>
            <a:r>
              <a:rPr b="0" lang="ko-KR" sz="16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초까지 시간에 비례해 점점 빨라짐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40000"/>
              </a:lnSpc>
            </a:pPr>
            <a:r>
              <a:rPr b="0" lang="en-US" sz="16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•  </a:t>
            </a:r>
            <a:r>
              <a:rPr b="0" lang="ko-KR" sz="16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생존 시간과 처치 수만큼 </a:t>
            </a:r>
            <a:r>
              <a:rPr b="0" lang="en-US" sz="16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Score </a:t>
            </a:r>
            <a:r>
              <a:rPr b="0" lang="ko-KR" sz="16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누적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"/>
          <p:cNvSpPr/>
          <p:nvPr/>
        </p:nvSpPr>
        <p:spPr>
          <a:xfrm>
            <a:off x="502920" y="567000"/>
            <a:ext cx="31680" cy="200880"/>
          </a:xfrm>
          <a:prstGeom prst="roundRect">
            <a:avLst>
              <a:gd name="adj" fmla="val 5000"/>
            </a:avLst>
          </a:prstGeom>
          <a:solidFill>
            <a:srgbClr val="006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TextBox 2"/>
          <p:cNvSpPr/>
          <p:nvPr/>
        </p:nvSpPr>
        <p:spPr>
          <a:xfrm>
            <a:off x="594360" y="530280"/>
            <a:ext cx="10515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2. </a:t>
            </a:r>
            <a:r>
              <a:rPr b="1" lang="ko-KR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핵심 게임 메커니즘 </a:t>
            </a:r>
            <a:r>
              <a:rPr b="1" lang="en-US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&gt; </a:t>
            </a:r>
            <a:r>
              <a:rPr b="1" lang="ko-KR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속성 상성 시스템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3"/>
          <p:cNvSpPr/>
          <p:nvPr/>
        </p:nvSpPr>
        <p:spPr>
          <a:xfrm>
            <a:off x="502920" y="868680"/>
            <a:ext cx="111553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Fire → Earth → Lightning → Water, </a:t>
            </a:r>
            <a:r>
              <a:rPr b="1" lang="ko-KR" sz="2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한 단계 앞선 속성이 </a:t>
            </a:r>
            <a:r>
              <a:rPr b="1" lang="en-US" sz="2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2</a:t>
            </a:r>
            <a:r>
              <a:rPr b="1" lang="ko-KR" sz="2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배 피해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4"/>
          <p:cNvSpPr/>
          <p:nvPr/>
        </p:nvSpPr>
        <p:spPr>
          <a:xfrm>
            <a:off x="5486400" y="6528960"/>
            <a:ext cx="1096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8/16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5"/>
          <p:cNvSpPr/>
          <p:nvPr/>
        </p:nvSpPr>
        <p:spPr>
          <a:xfrm>
            <a:off x="8686800" y="6528960"/>
            <a:ext cx="32914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Chaos Tower Project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Oval 6"/>
          <p:cNvSpPr/>
          <p:nvPr/>
        </p:nvSpPr>
        <p:spPr>
          <a:xfrm>
            <a:off x="5394960" y="1600200"/>
            <a:ext cx="1371240" cy="1371240"/>
          </a:xfrm>
          <a:prstGeom prst="ellipse">
            <a:avLst/>
          </a:prstGeom>
          <a:solidFill>
            <a:srgbClr val="e349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TextBox 7"/>
          <p:cNvSpPr/>
          <p:nvPr/>
        </p:nvSpPr>
        <p:spPr>
          <a:xfrm>
            <a:off x="5394960" y="2103120"/>
            <a:ext cx="13712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Fire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Oval 8"/>
          <p:cNvSpPr/>
          <p:nvPr/>
        </p:nvSpPr>
        <p:spPr>
          <a:xfrm>
            <a:off x="8503920" y="3108960"/>
            <a:ext cx="1371240" cy="1371240"/>
          </a:xfrm>
          <a:prstGeom prst="ellipse">
            <a:avLst/>
          </a:prstGeom>
          <a:solidFill>
            <a:srgbClr val="1baf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TextBox 9"/>
          <p:cNvSpPr/>
          <p:nvPr/>
        </p:nvSpPr>
        <p:spPr>
          <a:xfrm>
            <a:off x="8503920" y="3611880"/>
            <a:ext cx="13712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Earth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Oval 10"/>
          <p:cNvSpPr/>
          <p:nvPr/>
        </p:nvSpPr>
        <p:spPr>
          <a:xfrm>
            <a:off x="5394960" y="4617720"/>
            <a:ext cx="1371240" cy="1371240"/>
          </a:xfrm>
          <a:prstGeom prst="ellipse">
            <a:avLst/>
          </a:prstGeom>
          <a:solidFill>
            <a:srgbClr val="eda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TextBox 11"/>
          <p:cNvSpPr/>
          <p:nvPr/>
        </p:nvSpPr>
        <p:spPr>
          <a:xfrm>
            <a:off x="5394960" y="5120640"/>
            <a:ext cx="13712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Lightning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Oval 12"/>
          <p:cNvSpPr/>
          <p:nvPr/>
        </p:nvSpPr>
        <p:spPr>
          <a:xfrm>
            <a:off x="2286000" y="3108960"/>
            <a:ext cx="1371240" cy="1371240"/>
          </a:xfrm>
          <a:prstGeom prst="ellipse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TextBox 13"/>
          <p:cNvSpPr/>
          <p:nvPr/>
        </p:nvSpPr>
        <p:spPr>
          <a:xfrm>
            <a:off x="2286000" y="3611880"/>
            <a:ext cx="13712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Water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14"/>
          <p:cNvSpPr/>
          <p:nvPr/>
        </p:nvSpPr>
        <p:spPr>
          <a:xfrm>
            <a:off x="7406640" y="2811960"/>
            <a:ext cx="4568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↘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15"/>
          <p:cNvSpPr/>
          <p:nvPr/>
        </p:nvSpPr>
        <p:spPr>
          <a:xfrm>
            <a:off x="7406640" y="4320720"/>
            <a:ext cx="4568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↙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16"/>
          <p:cNvSpPr/>
          <p:nvPr/>
        </p:nvSpPr>
        <p:spPr>
          <a:xfrm>
            <a:off x="4297680" y="4320720"/>
            <a:ext cx="4568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↖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17"/>
          <p:cNvSpPr/>
          <p:nvPr/>
        </p:nvSpPr>
        <p:spPr>
          <a:xfrm>
            <a:off x="4297680" y="2811960"/>
            <a:ext cx="4568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↗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18"/>
          <p:cNvSpPr/>
          <p:nvPr/>
        </p:nvSpPr>
        <p:spPr>
          <a:xfrm>
            <a:off x="502920" y="6120000"/>
            <a:ext cx="111553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ko-KR" sz="14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동일 속성</a:t>
            </a:r>
            <a:r>
              <a:rPr b="0" lang="en-US" sz="14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: 1</a:t>
            </a:r>
            <a:r>
              <a:rPr b="0" lang="ko-KR" sz="14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배   </a:t>
            </a:r>
            <a:r>
              <a:rPr b="0" lang="en-US" sz="14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|   </a:t>
            </a:r>
            <a:r>
              <a:rPr b="0" lang="ko-KR" sz="14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한 단계 앞선 속성 공격</a:t>
            </a:r>
            <a:r>
              <a:rPr b="0" lang="en-US" sz="14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: 2</a:t>
            </a:r>
            <a:r>
              <a:rPr b="0" lang="ko-KR" sz="14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배   </a:t>
            </a:r>
            <a:r>
              <a:rPr b="0" lang="en-US" sz="14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|   </a:t>
            </a:r>
            <a:r>
              <a:rPr b="0" lang="ko-KR" sz="14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한 단계 뒤진 속성 공격</a:t>
            </a:r>
            <a:r>
              <a:rPr b="0" lang="en-US" sz="14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: 0.5</a:t>
            </a:r>
            <a:r>
              <a:rPr b="0" lang="ko-KR" sz="14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배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"/>
          <p:cNvSpPr/>
          <p:nvPr/>
        </p:nvSpPr>
        <p:spPr>
          <a:xfrm>
            <a:off x="502920" y="567000"/>
            <a:ext cx="31680" cy="200880"/>
          </a:xfrm>
          <a:prstGeom prst="roundRect">
            <a:avLst>
              <a:gd name="adj" fmla="val 5000"/>
            </a:avLst>
          </a:prstGeom>
          <a:solidFill>
            <a:srgbClr val="006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2"/>
          <p:cNvSpPr/>
          <p:nvPr/>
        </p:nvSpPr>
        <p:spPr>
          <a:xfrm>
            <a:off x="594360" y="530280"/>
            <a:ext cx="10515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2. </a:t>
            </a:r>
            <a:r>
              <a:rPr b="1" lang="ko-KR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핵심 게임 메커니즘 </a:t>
            </a:r>
            <a:r>
              <a:rPr b="1" lang="en-US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&gt; </a:t>
            </a:r>
            <a:r>
              <a:rPr b="1" lang="ko-KR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컨베이어 벨트 타워 시스템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3"/>
          <p:cNvSpPr/>
          <p:nvPr/>
        </p:nvSpPr>
        <p:spPr>
          <a:xfrm>
            <a:off x="502920" y="868680"/>
            <a:ext cx="111553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스와이프 </a:t>
            </a:r>
            <a:r>
              <a:rPr b="1" lang="en-US" sz="2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/ </a:t>
            </a:r>
            <a:r>
              <a:rPr b="1" lang="ko-KR" sz="2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방향키로 벨트를 돌려 타워 각도를 실시간으로 조율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4"/>
          <p:cNvSpPr/>
          <p:nvPr/>
        </p:nvSpPr>
        <p:spPr>
          <a:xfrm>
            <a:off x="5486400" y="6528960"/>
            <a:ext cx="1096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9/16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5"/>
          <p:cNvSpPr/>
          <p:nvPr/>
        </p:nvSpPr>
        <p:spPr>
          <a:xfrm>
            <a:off x="8686800" y="6528960"/>
            <a:ext cx="32914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Chaos Tower Project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Oval 6"/>
          <p:cNvSpPr/>
          <p:nvPr/>
        </p:nvSpPr>
        <p:spPr>
          <a:xfrm>
            <a:off x="4480560" y="1737360"/>
            <a:ext cx="3200040" cy="3200040"/>
          </a:xfrm>
          <a:prstGeom prst="ellipse">
            <a:avLst/>
          </a:prstGeom>
          <a:solidFill>
            <a:srgbClr val="eef1f4"/>
          </a:solidFill>
          <a:ln w="12700">
            <a:solidFill>
              <a:srgbClr val="006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Oval 7"/>
          <p:cNvSpPr/>
          <p:nvPr/>
        </p:nvSpPr>
        <p:spPr>
          <a:xfrm>
            <a:off x="5829480" y="1486080"/>
            <a:ext cx="502560" cy="502560"/>
          </a:xfrm>
          <a:prstGeom prst="ellipse">
            <a:avLst/>
          </a:prstGeom>
          <a:solidFill>
            <a:srgbClr val="0c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Oval 8"/>
          <p:cNvSpPr/>
          <p:nvPr/>
        </p:nvSpPr>
        <p:spPr>
          <a:xfrm>
            <a:off x="7215480" y="3886200"/>
            <a:ext cx="502560" cy="502560"/>
          </a:xfrm>
          <a:prstGeom prst="ellipse">
            <a:avLst/>
          </a:prstGeom>
          <a:solidFill>
            <a:srgbClr val="0c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Oval 9"/>
          <p:cNvSpPr/>
          <p:nvPr/>
        </p:nvSpPr>
        <p:spPr>
          <a:xfrm>
            <a:off x="4443120" y="3886200"/>
            <a:ext cx="502560" cy="502560"/>
          </a:xfrm>
          <a:prstGeom prst="ellipse">
            <a:avLst/>
          </a:prstGeom>
          <a:solidFill>
            <a:srgbClr val="0c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" name="TextBox 10"/>
          <p:cNvSpPr/>
          <p:nvPr/>
        </p:nvSpPr>
        <p:spPr>
          <a:xfrm>
            <a:off x="4480560" y="3200400"/>
            <a:ext cx="32000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c3357"/>
                </a:solidFill>
                <a:latin typeface="Malgun Gothic"/>
                <a:ea typeface="Malgun Gothic"/>
              </a:rPr>
              <a:t>BASE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11"/>
          <p:cNvSpPr/>
          <p:nvPr/>
        </p:nvSpPr>
        <p:spPr>
          <a:xfrm>
            <a:off x="548640" y="1920240"/>
            <a:ext cx="3657240" cy="23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•  </a:t>
            </a:r>
            <a:r>
              <a:rPr b="0" lang="ko-KR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타워는 컨베이어 레일 위에 고정 배치</a:t>
            </a: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, </a:t>
            </a:r>
            <a:r>
              <a:rPr b="0" lang="ko-KR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벨트가 회전하며 위치 이동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</a:pP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•  </a:t>
            </a:r>
            <a:r>
              <a:rPr b="0" lang="ko-KR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스와이프 방향에 따라 가속</a:t>
            </a: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/</a:t>
            </a:r>
            <a:r>
              <a:rPr b="0" lang="ko-KR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감속 </a:t>
            </a: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(</a:t>
            </a:r>
            <a:r>
              <a:rPr b="0" lang="ko-KR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최대 회전 속도 </a:t>
            </a: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180˚/s)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</a:pP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•  </a:t>
            </a:r>
            <a:r>
              <a:rPr b="0" lang="ko-KR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입력이 없으면 관성으로 서서히 감속 — 정교한 타이밍 컨트롤 유도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</a:pP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•  </a:t>
            </a:r>
            <a:r>
              <a:rPr b="0" lang="ko-KR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초기 타워 </a:t>
            </a: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3</a:t>
            </a:r>
            <a:r>
              <a:rPr b="0" lang="ko-KR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기로 시작</a:t>
            </a: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, </a:t>
            </a:r>
            <a:r>
              <a:rPr b="0" lang="ko-KR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보상으로 타워 추가 가능</a:t>
            </a: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(AddTower)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1"/>
          <p:cNvSpPr/>
          <p:nvPr/>
        </p:nvSpPr>
        <p:spPr>
          <a:xfrm>
            <a:off x="502920" y="567000"/>
            <a:ext cx="31680" cy="200880"/>
          </a:xfrm>
          <a:prstGeom prst="roundRect">
            <a:avLst>
              <a:gd name="adj" fmla="val 5000"/>
            </a:avLst>
          </a:prstGeom>
          <a:solidFill>
            <a:srgbClr val="006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" name="TextBox 2"/>
          <p:cNvSpPr/>
          <p:nvPr/>
        </p:nvSpPr>
        <p:spPr>
          <a:xfrm>
            <a:off x="594360" y="530280"/>
            <a:ext cx="10515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2. </a:t>
            </a:r>
            <a:r>
              <a:rPr b="1" lang="ko-KR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핵심 게임 메커니즘 </a:t>
            </a:r>
            <a:r>
              <a:rPr b="1" lang="en-US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&gt; </a:t>
            </a:r>
            <a:r>
              <a:rPr b="1" lang="ko-KR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공격 모드 </a:t>
            </a:r>
            <a:r>
              <a:rPr b="1" lang="en-US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&amp; </a:t>
            </a:r>
            <a:r>
              <a:rPr b="1" lang="ko-KR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등급 시스템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Box 3"/>
          <p:cNvSpPr/>
          <p:nvPr/>
        </p:nvSpPr>
        <p:spPr>
          <a:xfrm>
            <a:off x="502920" y="868680"/>
            <a:ext cx="111553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타워 레벨업마다 등급 확률로 </a:t>
            </a:r>
            <a:r>
              <a:rPr b="1" lang="en-US" sz="2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6</a:t>
            </a:r>
            <a:r>
              <a:rPr b="1" lang="ko-KR" sz="2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종 공격 모드 중 하나를 획득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Box 4"/>
          <p:cNvSpPr/>
          <p:nvPr/>
        </p:nvSpPr>
        <p:spPr>
          <a:xfrm>
            <a:off x="5486400" y="6528960"/>
            <a:ext cx="1096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10/16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Box 5"/>
          <p:cNvSpPr/>
          <p:nvPr/>
        </p:nvSpPr>
        <p:spPr>
          <a:xfrm>
            <a:off x="8686800" y="6528960"/>
            <a:ext cx="32914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Chaos Tower Project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Rectangle 6"/>
          <p:cNvSpPr/>
          <p:nvPr/>
        </p:nvSpPr>
        <p:spPr>
          <a:xfrm>
            <a:off x="548640" y="1737360"/>
            <a:ext cx="11338200" cy="712800"/>
          </a:xfrm>
          <a:prstGeom prst="round2SameRect">
            <a:avLst>
              <a:gd name="adj1" fmla="val 5000"/>
              <a:gd name="adj2" fmla="val 5000"/>
            </a:avLst>
          </a:prstGeom>
          <a:solidFill>
            <a:srgbClr val="0c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" name="TextBox 7"/>
          <p:cNvSpPr/>
          <p:nvPr/>
        </p:nvSpPr>
        <p:spPr>
          <a:xfrm>
            <a:off x="685800" y="1986840"/>
            <a:ext cx="2102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4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등급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Box 8"/>
          <p:cNvSpPr/>
          <p:nvPr/>
        </p:nvSpPr>
        <p:spPr>
          <a:xfrm>
            <a:off x="2880360" y="1986840"/>
            <a:ext cx="16455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4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확률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Box 9"/>
          <p:cNvSpPr/>
          <p:nvPr/>
        </p:nvSpPr>
        <p:spPr>
          <a:xfrm>
            <a:off x="4617720" y="1986840"/>
            <a:ext cx="71319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4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대표 모드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Rectangle 10"/>
          <p:cNvSpPr/>
          <p:nvPr/>
        </p:nvSpPr>
        <p:spPr>
          <a:xfrm>
            <a:off x="548640" y="2450520"/>
            <a:ext cx="11338200" cy="712800"/>
          </a:xfrm>
          <a:prstGeom prst="rect">
            <a:avLst/>
          </a:prstGeom>
          <a:solidFill>
            <a:srgbClr val="eef1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TextBox 11"/>
          <p:cNvSpPr/>
          <p:nvPr/>
        </p:nvSpPr>
        <p:spPr>
          <a:xfrm>
            <a:off x="685800" y="2700000"/>
            <a:ext cx="2102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Common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Box 12"/>
          <p:cNvSpPr/>
          <p:nvPr/>
        </p:nvSpPr>
        <p:spPr>
          <a:xfrm>
            <a:off x="2880360" y="2700000"/>
            <a:ext cx="16455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63%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Box 13"/>
          <p:cNvSpPr/>
          <p:nvPr/>
        </p:nvSpPr>
        <p:spPr>
          <a:xfrm>
            <a:off x="4617720" y="2700000"/>
            <a:ext cx="71319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Power Beam, Rapid Beam, Burst x3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Rectangle 14"/>
          <p:cNvSpPr/>
          <p:nvPr/>
        </p:nvSpPr>
        <p:spPr>
          <a:xfrm>
            <a:off x="548640" y="3163680"/>
            <a:ext cx="11338200" cy="712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TextBox 15"/>
          <p:cNvSpPr/>
          <p:nvPr/>
        </p:nvSpPr>
        <p:spPr>
          <a:xfrm>
            <a:off x="685800" y="3413160"/>
            <a:ext cx="2102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Uncommon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16"/>
          <p:cNvSpPr/>
          <p:nvPr/>
        </p:nvSpPr>
        <p:spPr>
          <a:xfrm>
            <a:off x="2880360" y="3413160"/>
            <a:ext cx="16455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25%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Box 17"/>
          <p:cNvSpPr/>
          <p:nvPr/>
        </p:nvSpPr>
        <p:spPr>
          <a:xfrm>
            <a:off x="4617720" y="3413160"/>
            <a:ext cx="71319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Dual Shot, Burst x5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Rectangle 18"/>
          <p:cNvSpPr/>
          <p:nvPr/>
        </p:nvSpPr>
        <p:spPr>
          <a:xfrm>
            <a:off x="548640" y="3877200"/>
            <a:ext cx="11338200" cy="712800"/>
          </a:xfrm>
          <a:prstGeom prst="rect">
            <a:avLst/>
          </a:prstGeom>
          <a:solidFill>
            <a:srgbClr val="eef1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" name="TextBox 19"/>
          <p:cNvSpPr/>
          <p:nvPr/>
        </p:nvSpPr>
        <p:spPr>
          <a:xfrm>
            <a:off x="685800" y="4126320"/>
            <a:ext cx="2102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Rare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20"/>
          <p:cNvSpPr/>
          <p:nvPr/>
        </p:nvSpPr>
        <p:spPr>
          <a:xfrm>
            <a:off x="2880360" y="4126320"/>
            <a:ext cx="16455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10%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Box 21"/>
          <p:cNvSpPr/>
          <p:nvPr/>
        </p:nvSpPr>
        <p:spPr>
          <a:xfrm>
            <a:off x="4617720" y="4126320"/>
            <a:ext cx="71319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Blast Beam(</a:t>
            </a:r>
            <a:r>
              <a:rPr b="0" lang="ko-KR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광역</a:t>
            </a: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), Chain Bolt(</a:t>
            </a:r>
            <a:r>
              <a:rPr b="0" lang="ko-KR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연쇄</a:t>
            </a: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), Triple Shot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Rectangle 22"/>
          <p:cNvSpPr/>
          <p:nvPr/>
        </p:nvSpPr>
        <p:spPr>
          <a:xfrm rot="10800000">
            <a:off x="549000" y="4590360"/>
            <a:ext cx="11338200" cy="712800"/>
          </a:xfrm>
          <a:prstGeom prst="round2SameRect">
            <a:avLst>
              <a:gd name="adj1" fmla="val 5000"/>
              <a:gd name="adj2" fmla="val 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1" name="TextBox 23"/>
          <p:cNvSpPr/>
          <p:nvPr/>
        </p:nvSpPr>
        <p:spPr>
          <a:xfrm>
            <a:off x="685800" y="4839480"/>
            <a:ext cx="2102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Legendary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Box 24"/>
          <p:cNvSpPr/>
          <p:nvPr/>
        </p:nvSpPr>
        <p:spPr>
          <a:xfrm>
            <a:off x="2880360" y="4839480"/>
            <a:ext cx="16455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2%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Box 25"/>
          <p:cNvSpPr/>
          <p:nvPr/>
        </p:nvSpPr>
        <p:spPr>
          <a:xfrm>
            <a:off x="4617720" y="4839480"/>
            <a:ext cx="71319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Orbital Strike(6</a:t>
            </a:r>
            <a:r>
              <a:rPr b="0" lang="ko-KR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배 데미지</a:t>
            </a: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), Nova Blast(</a:t>
            </a:r>
            <a:r>
              <a:rPr b="0" lang="ko-KR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광역 </a:t>
            </a: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3.0)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Rectangle 1"/>
          <p:cNvSpPr/>
          <p:nvPr/>
        </p:nvSpPr>
        <p:spPr>
          <a:xfrm>
            <a:off x="502920" y="567000"/>
            <a:ext cx="31680" cy="200880"/>
          </a:xfrm>
          <a:prstGeom prst="roundRect">
            <a:avLst>
              <a:gd name="adj" fmla="val 5000"/>
            </a:avLst>
          </a:prstGeom>
          <a:solidFill>
            <a:srgbClr val="006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" name="TextBox 2"/>
          <p:cNvSpPr/>
          <p:nvPr/>
        </p:nvSpPr>
        <p:spPr>
          <a:xfrm>
            <a:off x="594360" y="530280"/>
            <a:ext cx="10515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2. </a:t>
            </a:r>
            <a:r>
              <a:rPr b="1" lang="ko-KR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핵심 게임 메커니즘 </a:t>
            </a:r>
            <a:r>
              <a:rPr b="1" lang="en-US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&gt; </a:t>
            </a:r>
            <a:r>
              <a:rPr b="1" lang="ko-KR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보상 및 성장 시스템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Box 3"/>
          <p:cNvSpPr/>
          <p:nvPr/>
        </p:nvSpPr>
        <p:spPr>
          <a:xfrm>
            <a:off x="502920" y="868680"/>
            <a:ext cx="111553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타워 레벨업 시 </a:t>
            </a:r>
            <a:r>
              <a:rPr b="1" lang="en-US" sz="2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6</a:t>
            </a:r>
            <a:r>
              <a:rPr b="1" lang="ko-KR" sz="2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가지 보상 중 예약된 보상을 즉시 적용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Box 4"/>
          <p:cNvSpPr/>
          <p:nvPr/>
        </p:nvSpPr>
        <p:spPr>
          <a:xfrm>
            <a:off x="5486400" y="6528960"/>
            <a:ext cx="1096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11/16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Box 5"/>
          <p:cNvSpPr/>
          <p:nvPr/>
        </p:nvSpPr>
        <p:spPr>
          <a:xfrm>
            <a:off x="8686800" y="6528960"/>
            <a:ext cx="32914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Chaos Tower Project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Rectangle 6"/>
          <p:cNvSpPr/>
          <p:nvPr/>
        </p:nvSpPr>
        <p:spPr>
          <a:xfrm>
            <a:off x="640080" y="1828800"/>
            <a:ext cx="3474360" cy="1645560"/>
          </a:xfrm>
          <a:prstGeom prst="roundRect">
            <a:avLst>
              <a:gd name="adj" fmla="val 5000"/>
            </a:avLst>
          </a:prstGeom>
          <a:solidFill>
            <a:srgbClr val="006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" name="TextBox 7"/>
          <p:cNvSpPr/>
          <p:nvPr/>
        </p:nvSpPr>
        <p:spPr>
          <a:xfrm>
            <a:off x="640080" y="2331720"/>
            <a:ext cx="347436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DamageBoost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(</a:t>
            </a:r>
            <a:r>
              <a:rPr b="1" lang="ko-KR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공격력 강화</a:t>
            </a:r>
            <a:r>
              <a:rPr b="1" lang="en-US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Rectangle 8"/>
          <p:cNvSpPr/>
          <p:nvPr/>
        </p:nvSpPr>
        <p:spPr>
          <a:xfrm>
            <a:off x="4434840" y="1828800"/>
            <a:ext cx="3474360" cy="1645560"/>
          </a:xfrm>
          <a:prstGeom prst="roundRect">
            <a:avLst>
              <a:gd name="adj" fmla="val 5000"/>
            </a:avLst>
          </a:prstGeom>
          <a:solidFill>
            <a:srgbClr val="006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" name="TextBox 9"/>
          <p:cNvSpPr/>
          <p:nvPr/>
        </p:nvSpPr>
        <p:spPr>
          <a:xfrm>
            <a:off x="4434840" y="2331720"/>
            <a:ext cx="347436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FireRateBoost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(</a:t>
            </a:r>
            <a:r>
              <a:rPr b="1" lang="ko-KR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공속 강화</a:t>
            </a:r>
            <a:r>
              <a:rPr b="1" lang="en-US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Rectangle 10"/>
          <p:cNvSpPr/>
          <p:nvPr/>
        </p:nvSpPr>
        <p:spPr>
          <a:xfrm>
            <a:off x="8229600" y="1828800"/>
            <a:ext cx="3474360" cy="1645560"/>
          </a:xfrm>
          <a:prstGeom prst="roundRect">
            <a:avLst>
              <a:gd name="adj" fmla="val 5000"/>
            </a:avLst>
          </a:prstGeom>
          <a:solidFill>
            <a:srgbClr val="006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TextBox 11"/>
          <p:cNvSpPr/>
          <p:nvPr/>
        </p:nvSpPr>
        <p:spPr>
          <a:xfrm>
            <a:off x="8229600" y="2331720"/>
            <a:ext cx="347436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RangeBoost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(</a:t>
            </a:r>
            <a:r>
              <a:rPr b="1" lang="ko-KR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사거리 강화</a:t>
            </a:r>
            <a:r>
              <a:rPr b="1" lang="en-US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Rectangle 12"/>
          <p:cNvSpPr/>
          <p:nvPr/>
        </p:nvSpPr>
        <p:spPr>
          <a:xfrm>
            <a:off x="640080" y="3840480"/>
            <a:ext cx="3474360" cy="1645560"/>
          </a:xfrm>
          <a:prstGeom prst="roundRect">
            <a:avLst>
              <a:gd name="adj" fmla="val 5000"/>
            </a:avLst>
          </a:prstGeom>
          <a:solidFill>
            <a:srgbClr val="006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" name="TextBox 13"/>
          <p:cNvSpPr/>
          <p:nvPr/>
        </p:nvSpPr>
        <p:spPr>
          <a:xfrm>
            <a:off x="640080" y="4343400"/>
            <a:ext cx="347436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AttackUpgrade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(</a:t>
            </a:r>
            <a:r>
              <a:rPr b="1" lang="ko-KR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공격 모드 재획득</a:t>
            </a:r>
            <a:r>
              <a:rPr b="1" lang="en-US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Rectangle 14"/>
          <p:cNvSpPr/>
          <p:nvPr/>
        </p:nvSpPr>
        <p:spPr>
          <a:xfrm>
            <a:off x="4434840" y="3840480"/>
            <a:ext cx="3474360" cy="1645560"/>
          </a:xfrm>
          <a:prstGeom prst="roundRect">
            <a:avLst>
              <a:gd name="adj" fmla="val 5000"/>
            </a:avLst>
          </a:prstGeom>
          <a:solidFill>
            <a:srgbClr val="006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" name="TextBox 15"/>
          <p:cNvSpPr/>
          <p:nvPr/>
        </p:nvSpPr>
        <p:spPr>
          <a:xfrm>
            <a:off x="4434840" y="4343400"/>
            <a:ext cx="347436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RepairTower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(</a:t>
            </a:r>
            <a:r>
              <a:rPr b="1" lang="ko-KR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타워 수리</a:t>
            </a:r>
            <a:r>
              <a:rPr b="1" lang="en-US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Rectangle 16"/>
          <p:cNvSpPr/>
          <p:nvPr/>
        </p:nvSpPr>
        <p:spPr>
          <a:xfrm>
            <a:off x="8229600" y="3840480"/>
            <a:ext cx="3474360" cy="1645560"/>
          </a:xfrm>
          <a:prstGeom prst="roundRect">
            <a:avLst>
              <a:gd name="adj" fmla="val 5000"/>
            </a:avLst>
          </a:prstGeom>
          <a:solidFill>
            <a:srgbClr val="006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" name="TextBox 17"/>
          <p:cNvSpPr/>
          <p:nvPr/>
        </p:nvSpPr>
        <p:spPr>
          <a:xfrm>
            <a:off x="8229600" y="4343400"/>
            <a:ext cx="347436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AddTower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(</a:t>
            </a:r>
            <a:r>
              <a:rPr b="1" lang="ko-KR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타워 추가</a:t>
            </a:r>
            <a:r>
              <a:rPr b="1" lang="en-US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Box 18"/>
          <p:cNvSpPr/>
          <p:nvPr/>
        </p:nvSpPr>
        <p:spPr>
          <a:xfrm>
            <a:off x="548640" y="6080760"/>
            <a:ext cx="10515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3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최근 개편</a:t>
            </a:r>
            <a:r>
              <a:rPr b="0" lang="en-US" sz="13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: </a:t>
            </a:r>
            <a:r>
              <a:rPr b="0" lang="ko-KR" sz="13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보상 패널을 우측 사이드바로 이동해 세로 레이아웃으로 가시성 개선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Rectangle 1"/>
          <p:cNvSpPr/>
          <p:nvPr/>
        </p:nvSpPr>
        <p:spPr>
          <a:xfrm>
            <a:off x="914400" y="822960"/>
            <a:ext cx="10332360" cy="5211720"/>
          </a:xfrm>
          <a:prstGeom prst="roundRect">
            <a:avLst>
              <a:gd name="adj" fmla="val 5000"/>
            </a:avLst>
          </a:prstGeom>
          <a:solidFill>
            <a:srgbClr val="0c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3" name="TextBox 2"/>
          <p:cNvSpPr/>
          <p:nvPr/>
        </p:nvSpPr>
        <p:spPr>
          <a:xfrm>
            <a:off x="1371600" y="2331720"/>
            <a:ext cx="182844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03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Rectangle 3"/>
          <p:cNvSpPr/>
          <p:nvPr/>
        </p:nvSpPr>
        <p:spPr>
          <a:xfrm>
            <a:off x="2148840" y="2697480"/>
            <a:ext cx="3840120" cy="14760"/>
          </a:xfrm>
          <a:prstGeom prst="roundRect">
            <a:avLst>
              <a:gd name="adj" fmla="val 5000"/>
            </a:avLst>
          </a:prstGeom>
          <a:solidFill>
            <a:srgbClr val="3d8b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0240" bIns="-30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TextBox 4"/>
          <p:cNvSpPr/>
          <p:nvPr/>
        </p:nvSpPr>
        <p:spPr>
          <a:xfrm>
            <a:off x="1371600" y="2971800"/>
            <a:ext cx="82292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6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개발 현황 및 향후 계획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Box 5"/>
          <p:cNvSpPr/>
          <p:nvPr/>
        </p:nvSpPr>
        <p:spPr>
          <a:xfrm>
            <a:off x="5486400" y="6528960"/>
            <a:ext cx="1096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12/16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Box 6"/>
          <p:cNvSpPr/>
          <p:nvPr/>
        </p:nvSpPr>
        <p:spPr>
          <a:xfrm>
            <a:off x="8686800" y="6528960"/>
            <a:ext cx="32914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Chaos Tower Project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1"/>
          <p:cNvSpPr/>
          <p:nvPr/>
        </p:nvSpPr>
        <p:spPr>
          <a:xfrm>
            <a:off x="502920" y="567000"/>
            <a:ext cx="31680" cy="200880"/>
          </a:xfrm>
          <a:prstGeom prst="roundRect">
            <a:avLst>
              <a:gd name="adj" fmla="val 5000"/>
            </a:avLst>
          </a:prstGeom>
          <a:solidFill>
            <a:srgbClr val="006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" name="TextBox 2"/>
          <p:cNvSpPr/>
          <p:nvPr/>
        </p:nvSpPr>
        <p:spPr>
          <a:xfrm>
            <a:off x="594360" y="530280"/>
            <a:ext cx="10515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3. </a:t>
            </a:r>
            <a:r>
              <a:rPr b="1" lang="ko-KR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개발 현황 및 향후 계획 </a:t>
            </a:r>
            <a:r>
              <a:rPr b="1" lang="en-US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&gt; </a:t>
            </a:r>
            <a:r>
              <a:rPr b="1" lang="ko-KR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최근 개발 타임라인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Box 3"/>
          <p:cNvSpPr/>
          <p:nvPr/>
        </p:nvSpPr>
        <p:spPr>
          <a:xfrm>
            <a:off x="502920" y="868680"/>
            <a:ext cx="111553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핵심 루프 구축 이후 안드로이드 빌드 자동화와 </a:t>
            </a:r>
            <a:r>
              <a:rPr b="1" lang="en-US" sz="2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UI </a:t>
            </a:r>
            <a:r>
              <a:rPr b="1" lang="ko-KR" sz="2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개선에 집중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Box 4"/>
          <p:cNvSpPr/>
          <p:nvPr/>
        </p:nvSpPr>
        <p:spPr>
          <a:xfrm>
            <a:off x="5486400" y="6528960"/>
            <a:ext cx="1096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13/16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Box 5"/>
          <p:cNvSpPr/>
          <p:nvPr/>
        </p:nvSpPr>
        <p:spPr>
          <a:xfrm>
            <a:off x="8686800" y="6528960"/>
            <a:ext cx="32914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Chaos Tower Project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Oval 6"/>
          <p:cNvSpPr/>
          <p:nvPr/>
        </p:nvSpPr>
        <p:spPr>
          <a:xfrm>
            <a:off x="1737360" y="1691640"/>
            <a:ext cx="273960" cy="273960"/>
          </a:xfrm>
          <a:prstGeom prst="ellipse">
            <a:avLst/>
          </a:prstGeom>
          <a:solidFill>
            <a:srgbClr val="006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" name="Rectangle 7"/>
          <p:cNvSpPr/>
          <p:nvPr/>
        </p:nvSpPr>
        <p:spPr>
          <a:xfrm>
            <a:off x="2011680" y="1801440"/>
            <a:ext cx="2559960" cy="18720"/>
          </a:xfrm>
          <a:prstGeom prst="roundRect">
            <a:avLst>
              <a:gd name="adj" fmla="val 5000"/>
            </a:avLst>
          </a:prstGeom>
          <a:solidFill>
            <a:srgbClr val="3d8b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280" bIns="-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5" name="Rectangle 8"/>
          <p:cNvSpPr/>
          <p:nvPr/>
        </p:nvSpPr>
        <p:spPr>
          <a:xfrm>
            <a:off x="640080" y="2286000"/>
            <a:ext cx="2468520" cy="502560"/>
          </a:xfrm>
          <a:prstGeom prst="roundRect">
            <a:avLst>
              <a:gd name="adj" fmla="val 5000"/>
            </a:avLst>
          </a:prstGeom>
          <a:solidFill>
            <a:srgbClr val="0c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" name="TextBox 9"/>
          <p:cNvSpPr/>
          <p:nvPr/>
        </p:nvSpPr>
        <p:spPr>
          <a:xfrm>
            <a:off x="640080" y="2404800"/>
            <a:ext cx="24685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ko-KR" sz="14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게임 개편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Box 10"/>
          <p:cNvSpPr/>
          <p:nvPr/>
        </p:nvSpPr>
        <p:spPr>
          <a:xfrm>
            <a:off x="640080" y="2971800"/>
            <a:ext cx="24685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20000"/>
              </a:lnSpc>
            </a:pPr>
            <a:r>
              <a:rPr b="0" lang="ko-KR" sz="12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속성 상성</a:t>
            </a:r>
            <a:r>
              <a:rPr b="0" lang="en-US" sz="12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, </a:t>
            </a:r>
            <a:r>
              <a:rPr b="0" lang="ko-KR" sz="12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컨베이어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20000"/>
              </a:lnSpc>
            </a:pPr>
            <a:r>
              <a:rPr b="0" lang="ko-KR" sz="12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벨트 등 핵심 시스템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20000"/>
              </a:lnSpc>
            </a:pPr>
            <a:r>
              <a:rPr b="0" lang="ko-KR" sz="12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전면 재설계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Oval 11"/>
          <p:cNvSpPr/>
          <p:nvPr/>
        </p:nvSpPr>
        <p:spPr>
          <a:xfrm>
            <a:off x="4572000" y="1691640"/>
            <a:ext cx="273960" cy="273960"/>
          </a:xfrm>
          <a:prstGeom prst="ellipse">
            <a:avLst/>
          </a:prstGeom>
          <a:solidFill>
            <a:srgbClr val="006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9" name="Rectangle 12"/>
          <p:cNvSpPr/>
          <p:nvPr/>
        </p:nvSpPr>
        <p:spPr>
          <a:xfrm>
            <a:off x="4846320" y="1801440"/>
            <a:ext cx="2559960" cy="18720"/>
          </a:xfrm>
          <a:prstGeom prst="roundRect">
            <a:avLst>
              <a:gd name="adj" fmla="val 5000"/>
            </a:avLst>
          </a:prstGeom>
          <a:solidFill>
            <a:srgbClr val="3d8b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280" bIns="-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0" name="Rectangle 13"/>
          <p:cNvSpPr/>
          <p:nvPr/>
        </p:nvSpPr>
        <p:spPr>
          <a:xfrm>
            <a:off x="3474720" y="2286000"/>
            <a:ext cx="2468520" cy="502560"/>
          </a:xfrm>
          <a:prstGeom prst="roundRect">
            <a:avLst>
              <a:gd name="adj" fmla="val 5000"/>
            </a:avLst>
          </a:prstGeom>
          <a:solidFill>
            <a:srgbClr val="0c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1" name="TextBox 14"/>
          <p:cNvSpPr/>
          <p:nvPr/>
        </p:nvSpPr>
        <p:spPr>
          <a:xfrm>
            <a:off x="3474720" y="2404800"/>
            <a:ext cx="24685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ko-KR" sz="14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모바일 대응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Box 15"/>
          <p:cNvSpPr/>
          <p:nvPr/>
        </p:nvSpPr>
        <p:spPr>
          <a:xfrm>
            <a:off x="3474720" y="2971800"/>
            <a:ext cx="24685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20000"/>
              </a:lnSpc>
            </a:pPr>
            <a:r>
              <a:rPr b="0" lang="en-US" sz="12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SafeArea </a:t>
            </a:r>
            <a:r>
              <a:rPr b="0" lang="ko-KR" sz="12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대응으로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20000"/>
              </a:lnSpc>
            </a:pPr>
            <a:r>
              <a:rPr b="0" lang="ko-KR" sz="12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노치</a:t>
            </a:r>
            <a:r>
              <a:rPr b="0" lang="en-US" sz="12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/</a:t>
            </a:r>
            <a:r>
              <a:rPr b="0" lang="ko-KR" sz="12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내비게이션 바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20000"/>
              </a:lnSpc>
            </a:pPr>
            <a:r>
              <a:rPr b="0" lang="ko-KR" sz="12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영역 이슈 해결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Oval 16"/>
          <p:cNvSpPr/>
          <p:nvPr/>
        </p:nvSpPr>
        <p:spPr>
          <a:xfrm>
            <a:off x="7406640" y="1691640"/>
            <a:ext cx="273960" cy="273960"/>
          </a:xfrm>
          <a:prstGeom prst="ellipse">
            <a:avLst/>
          </a:prstGeom>
          <a:solidFill>
            <a:srgbClr val="006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Rectangle 17"/>
          <p:cNvSpPr/>
          <p:nvPr/>
        </p:nvSpPr>
        <p:spPr>
          <a:xfrm>
            <a:off x="7680960" y="1801440"/>
            <a:ext cx="2559960" cy="18720"/>
          </a:xfrm>
          <a:prstGeom prst="roundRect">
            <a:avLst>
              <a:gd name="adj" fmla="val 5000"/>
            </a:avLst>
          </a:prstGeom>
          <a:solidFill>
            <a:srgbClr val="3d8b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280" bIns="-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5" name="Rectangle 18"/>
          <p:cNvSpPr/>
          <p:nvPr/>
        </p:nvSpPr>
        <p:spPr>
          <a:xfrm>
            <a:off x="6309360" y="2286000"/>
            <a:ext cx="2468520" cy="502560"/>
          </a:xfrm>
          <a:prstGeom prst="roundRect">
            <a:avLst>
              <a:gd name="adj" fmla="val 5000"/>
            </a:avLst>
          </a:prstGeom>
          <a:solidFill>
            <a:srgbClr val="0c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6" name="TextBox 19"/>
          <p:cNvSpPr/>
          <p:nvPr/>
        </p:nvSpPr>
        <p:spPr>
          <a:xfrm>
            <a:off x="6309360" y="2404800"/>
            <a:ext cx="24685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ko-KR" sz="14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빌드 자동화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Box 20"/>
          <p:cNvSpPr/>
          <p:nvPr/>
        </p:nvSpPr>
        <p:spPr>
          <a:xfrm>
            <a:off x="6309360" y="2971800"/>
            <a:ext cx="24685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20000"/>
              </a:lnSpc>
            </a:pPr>
            <a:r>
              <a:rPr b="0" lang="en-US" sz="12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ADB </a:t>
            </a:r>
            <a:r>
              <a:rPr b="0" lang="ko-KR" sz="12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기기 자동 감지 후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20000"/>
              </a:lnSpc>
            </a:pPr>
            <a:r>
              <a:rPr b="0" lang="en-US" sz="12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Build &amp; Run</a:t>
            </a:r>
            <a:r>
              <a:rPr b="0" lang="ko-KR" sz="12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까지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20000"/>
              </a:lnSpc>
            </a:pPr>
            <a:r>
              <a:rPr b="0" lang="ko-KR" sz="12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한 번에 처리하는 에디터 메뉴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Oval 21"/>
          <p:cNvSpPr/>
          <p:nvPr/>
        </p:nvSpPr>
        <p:spPr>
          <a:xfrm>
            <a:off x="10241280" y="1691640"/>
            <a:ext cx="273960" cy="273960"/>
          </a:xfrm>
          <a:prstGeom prst="ellipse">
            <a:avLst/>
          </a:prstGeom>
          <a:solidFill>
            <a:srgbClr val="006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9" name="Rectangle 22"/>
          <p:cNvSpPr/>
          <p:nvPr/>
        </p:nvSpPr>
        <p:spPr>
          <a:xfrm>
            <a:off x="9144000" y="2286000"/>
            <a:ext cx="2468520" cy="502560"/>
          </a:xfrm>
          <a:prstGeom prst="roundRect">
            <a:avLst>
              <a:gd name="adj" fmla="val 5000"/>
            </a:avLst>
          </a:prstGeom>
          <a:solidFill>
            <a:srgbClr val="0c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0" name="TextBox 23"/>
          <p:cNvSpPr/>
          <p:nvPr/>
        </p:nvSpPr>
        <p:spPr>
          <a:xfrm>
            <a:off x="9144000" y="2404800"/>
            <a:ext cx="24685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UI/</a:t>
            </a:r>
            <a:r>
              <a:rPr b="1" lang="ko-KR" sz="14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비주얼 개선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Box 24"/>
          <p:cNvSpPr/>
          <p:nvPr/>
        </p:nvSpPr>
        <p:spPr>
          <a:xfrm>
            <a:off x="9144000" y="2971800"/>
            <a:ext cx="24685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20000"/>
              </a:lnSpc>
            </a:pPr>
            <a:r>
              <a:rPr b="0" lang="ko-KR" sz="12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보상 패널 재배치</a:t>
            </a:r>
            <a:r>
              <a:rPr b="0" lang="en-US" sz="12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,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20000"/>
              </a:lnSpc>
            </a:pPr>
            <a:r>
              <a:rPr b="0" lang="ko-KR" sz="12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신규 타일 에셋 적용으로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20000"/>
              </a:lnSpc>
            </a:pPr>
            <a:r>
              <a:rPr b="0" lang="ko-KR" sz="12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완성도 향상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ectangle 1"/>
          <p:cNvSpPr/>
          <p:nvPr/>
        </p:nvSpPr>
        <p:spPr>
          <a:xfrm>
            <a:off x="502920" y="567000"/>
            <a:ext cx="31680" cy="200880"/>
          </a:xfrm>
          <a:prstGeom prst="roundRect">
            <a:avLst>
              <a:gd name="adj" fmla="val 5000"/>
            </a:avLst>
          </a:prstGeom>
          <a:solidFill>
            <a:srgbClr val="006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3" name="TextBox 2"/>
          <p:cNvSpPr/>
          <p:nvPr/>
        </p:nvSpPr>
        <p:spPr>
          <a:xfrm>
            <a:off x="594360" y="530280"/>
            <a:ext cx="10515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3. </a:t>
            </a:r>
            <a:r>
              <a:rPr b="1" lang="ko-KR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개발 현황 및 향후 계획 </a:t>
            </a:r>
            <a:r>
              <a:rPr b="1" lang="en-US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&gt; </a:t>
            </a:r>
            <a:r>
              <a:rPr b="1" lang="ko-KR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기술 스택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Box 3"/>
          <p:cNvSpPr/>
          <p:nvPr/>
        </p:nvSpPr>
        <p:spPr>
          <a:xfrm>
            <a:off x="502920" y="868680"/>
            <a:ext cx="111553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Unity 6 URP </a:t>
            </a:r>
            <a:r>
              <a:rPr b="1" lang="ko-KR" sz="2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기반</a:t>
            </a:r>
            <a:r>
              <a:rPr b="1" lang="en-US" sz="2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, </a:t>
            </a:r>
            <a:r>
              <a:rPr b="1" lang="ko-KR" sz="2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안드로이드 온디바이스 빌드까지 자동화된 파이프라인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Box 4"/>
          <p:cNvSpPr/>
          <p:nvPr/>
        </p:nvSpPr>
        <p:spPr>
          <a:xfrm>
            <a:off x="5486400" y="6528960"/>
            <a:ext cx="1096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14/16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Box 5"/>
          <p:cNvSpPr/>
          <p:nvPr/>
        </p:nvSpPr>
        <p:spPr>
          <a:xfrm>
            <a:off x="8686800" y="6528960"/>
            <a:ext cx="32914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Chaos Tower Project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Rectangle 6"/>
          <p:cNvSpPr/>
          <p:nvPr/>
        </p:nvSpPr>
        <p:spPr>
          <a:xfrm>
            <a:off x="548640" y="1828800"/>
            <a:ext cx="2742840" cy="776880"/>
          </a:xfrm>
          <a:prstGeom prst="roundRect">
            <a:avLst>
              <a:gd name="adj" fmla="val 5000"/>
            </a:avLst>
          </a:prstGeom>
          <a:solidFill>
            <a:srgbClr val="0c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8" name="TextBox 7"/>
          <p:cNvSpPr/>
          <p:nvPr/>
        </p:nvSpPr>
        <p:spPr>
          <a:xfrm>
            <a:off x="548640" y="2048400"/>
            <a:ext cx="2742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ko-KR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엔진 </a:t>
            </a:r>
            <a:r>
              <a:rPr b="1" lang="en-US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/ </a:t>
            </a:r>
            <a:r>
              <a:rPr b="1" lang="ko-KR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렌더링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Rectangle 8"/>
          <p:cNvSpPr/>
          <p:nvPr/>
        </p:nvSpPr>
        <p:spPr>
          <a:xfrm>
            <a:off x="3383280" y="1828800"/>
            <a:ext cx="8503560" cy="776880"/>
          </a:xfrm>
          <a:prstGeom prst="roundRect">
            <a:avLst>
              <a:gd name="adj" fmla="val 5000"/>
            </a:avLst>
          </a:prstGeom>
          <a:solidFill>
            <a:srgbClr val="eef1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0" name="TextBox 9"/>
          <p:cNvSpPr/>
          <p:nvPr/>
        </p:nvSpPr>
        <p:spPr>
          <a:xfrm>
            <a:off x="3611880" y="2030040"/>
            <a:ext cx="813780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Unity 6, Universal Render Pipeline(URP)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Rectangle 10"/>
          <p:cNvSpPr/>
          <p:nvPr/>
        </p:nvSpPr>
        <p:spPr>
          <a:xfrm>
            <a:off x="548640" y="2788920"/>
            <a:ext cx="2742840" cy="776880"/>
          </a:xfrm>
          <a:prstGeom prst="roundRect">
            <a:avLst>
              <a:gd name="adj" fmla="val 5000"/>
            </a:avLst>
          </a:prstGeom>
          <a:solidFill>
            <a:srgbClr val="0c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2" name="TextBox 11"/>
          <p:cNvSpPr/>
          <p:nvPr/>
        </p:nvSpPr>
        <p:spPr>
          <a:xfrm>
            <a:off x="548640" y="3008520"/>
            <a:ext cx="2742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ko-KR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입력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Rectangle 12"/>
          <p:cNvSpPr/>
          <p:nvPr/>
        </p:nvSpPr>
        <p:spPr>
          <a:xfrm>
            <a:off x="3383280" y="2788920"/>
            <a:ext cx="8503560" cy="776880"/>
          </a:xfrm>
          <a:prstGeom prst="roundRect">
            <a:avLst>
              <a:gd name="adj" fmla="val 5000"/>
            </a:avLst>
          </a:prstGeom>
          <a:solidFill>
            <a:srgbClr val="eef1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4" name="TextBox 13"/>
          <p:cNvSpPr/>
          <p:nvPr/>
        </p:nvSpPr>
        <p:spPr>
          <a:xfrm>
            <a:off x="3611880" y="2990160"/>
            <a:ext cx="813780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New Input System (</a:t>
            </a:r>
            <a:r>
              <a:rPr b="0" lang="ko-KR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스와이프 </a:t>
            </a: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/ </a:t>
            </a:r>
            <a:r>
              <a:rPr b="0" lang="ko-KR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키보드 겸용</a:t>
            </a: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Rectangle 14"/>
          <p:cNvSpPr/>
          <p:nvPr/>
        </p:nvSpPr>
        <p:spPr>
          <a:xfrm>
            <a:off x="548640" y="3749040"/>
            <a:ext cx="2742840" cy="776880"/>
          </a:xfrm>
          <a:prstGeom prst="roundRect">
            <a:avLst>
              <a:gd name="adj" fmla="val 5000"/>
            </a:avLst>
          </a:prstGeom>
          <a:solidFill>
            <a:srgbClr val="0c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6" name="TextBox 15"/>
          <p:cNvSpPr/>
          <p:nvPr/>
        </p:nvSpPr>
        <p:spPr>
          <a:xfrm>
            <a:off x="548640" y="3968640"/>
            <a:ext cx="2742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UI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Rectangle 16"/>
          <p:cNvSpPr/>
          <p:nvPr/>
        </p:nvSpPr>
        <p:spPr>
          <a:xfrm>
            <a:off x="3383280" y="3749040"/>
            <a:ext cx="8503560" cy="776880"/>
          </a:xfrm>
          <a:prstGeom prst="roundRect">
            <a:avLst>
              <a:gd name="adj" fmla="val 5000"/>
            </a:avLst>
          </a:prstGeom>
          <a:solidFill>
            <a:srgbClr val="eef1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8" name="TextBox 17"/>
          <p:cNvSpPr/>
          <p:nvPr/>
        </p:nvSpPr>
        <p:spPr>
          <a:xfrm>
            <a:off x="3611880" y="3950280"/>
            <a:ext cx="813780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TextMesh Pro, SafeArea </a:t>
            </a:r>
            <a:r>
              <a:rPr b="0" lang="ko-KR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대응 </a:t>
            </a: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UI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Rectangle 18"/>
          <p:cNvSpPr/>
          <p:nvPr/>
        </p:nvSpPr>
        <p:spPr>
          <a:xfrm>
            <a:off x="548640" y="4709160"/>
            <a:ext cx="2742840" cy="776880"/>
          </a:xfrm>
          <a:prstGeom prst="roundRect">
            <a:avLst>
              <a:gd name="adj" fmla="val 5000"/>
            </a:avLst>
          </a:prstGeom>
          <a:solidFill>
            <a:srgbClr val="0c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0" name="TextBox 19"/>
          <p:cNvSpPr/>
          <p:nvPr/>
        </p:nvSpPr>
        <p:spPr>
          <a:xfrm>
            <a:off x="548640" y="4928760"/>
            <a:ext cx="2742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ko-KR" sz="15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빌드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Rectangle 20"/>
          <p:cNvSpPr/>
          <p:nvPr/>
        </p:nvSpPr>
        <p:spPr>
          <a:xfrm>
            <a:off x="3383280" y="4709160"/>
            <a:ext cx="8503560" cy="776880"/>
          </a:xfrm>
          <a:prstGeom prst="roundRect">
            <a:avLst>
              <a:gd name="adj" fmla="val 5000"/>
            </a:avLst>
          </a:prstGeom>
          <a:solidFill>
            <a:srgbClr val="eef1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2" name="TextBox 21"/>
          <p:cNvSpPr/>
          <p:nvPr/>
        </p:nvSpPr>
        <p:spPr>
          <a:xfrm>
            <a:off x="3611880" y="4910400"/>
            <a:ext cx="813780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Android </a:t>
            </a:r>
            <a:r>
              <a:rPr b="0" lang="ko-KR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전용 에디터 메뉴 — </a:t>
            </a: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ADB </a:t>
            </a:r>
            <a:r>
              <a:rPr b="0" lang="ko-KR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기기 자동 감지</a:t>
            </a: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, </a:t>
            </a:r>
            <a:r>
              <a:rPr b="0" lang="ko-KR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씬 자동 세팅 후 </a:t>
            </a:r>
            <a:r>
              <a:rPr b="0" lang="en-US" sz="1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Build &amp; Run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Rectangle 1"/>
          <p:cNvSpPr/>
          <p:nvPr/>
        </p:nvSpPr>
        <p:spPr>
          <a:xfrm>
            <a:off x="502920" y="567000"/>
            <a:ext cx="31680" cy="200880"/>
          </a:xfrm>
          <a:prstGeom prst="roundRect">
            <a:avLst>
              <a:gd name="adj" fmla="val 5000"/>
            </a:avLst>
          </a:prstGeom>
          <a:solidFill>
            <a:srgbClr val="006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4" name="TextBox 2"/>
          <p:cNvSpPr/>
          <p:nvPr/>
        </p:nvSpPr>
        <p:spPr>
          <a:xfrm>
            <a:off x="594360" y="530280"/>
            <a:ext cx="10515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3. </a:t>
            </a:r>
            <a:r>
              <a:rPr b="1" lang="ko-KR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개발 현황 및 향후 계획 </a:t>
            </a:r>
            <a:r>
              <a:rPr b="1" lang="en-US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&gt; </a:t>
            </a:r>
            <a:r>
              <a:rPr b="1" lang="ko-KR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향후 계획</a:t>
            </a:r>
            <a:r>
              <a:rPr b="1" lang="en-US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(</a:t>
            </a:r>
            <a:r>
              <a:rPr b="1" lang="ko-KR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제안</a:t>
            </a:r>
            <a:r>
              <a:rPr b="1" lang="en-US" sz="1300" spc="-1" strike="noStrike">
                <a:solidFill>
                  <a:srgbClr val="0063af"/>
                </a:solidFill>
                <a:latin typeface="Malgun Gothic"/>
                <a:ea typeface="Malgun Gothic"/>
              </a:rPr>
              <a:t>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Box 3"/>
          <p:cNvSpPr/>
          <p:nvPr/>
        </p:nvSpPr>
        <p:spPr>
          <a:xfrm>
            <a:off x="502920" y="868680"/>
            <a:ext cx="111553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4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현재 코어 루프 위에 콘텐츠와 밸런스를 쌓아 완성도를 높이는 단계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Box 4"/>
          <p:cNvSpPr/>
          <p:nvPr/>
        </p:nvSpPr>
        <p:spPr>
          <a:xfrm>
            <a:off x="5486400" y="6528960"/>
            <a:ext cx="1096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15/16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Box 5"/>
          <p:cNvSpPr/>
          <p:nvPr/>
        </p:nvSpPr>
        <p:spPr>
          <a:xfrm>
            <a:off x="8686800" y="6528960"/>
            <a:ext cx="32914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6b6b"/>
                </a:solidFill>
                <a:latin typeface="Malgun Gothic"/>
                <a:ea typeface="Malgun Gothic"/>
              </a:rPr>
              <a:t>Chaos Tower Project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Box 6"/>
          <p:cNvSpPr/>
          <p:nvPr/>
        </p:nvSpPr>
        <p:spPr>
          <a:xfrm>
            <a:off x="548640" y="1920240"/>
            <a:ext cx="10789560" cy="23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7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•  </a:t>
            </a:r>
            <a:r>
              <a:rPr b="0" lang="ko-KR" sz="17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보스 웨이브 </a:t>
            </a:r>
            <a:r>
              <a:rPr b="0" lang="en-US" sz="17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/ </a:t>
            </a:r>
            <a:r>
              <a:rPr b="0" lang="ko-KR" sz="17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특수 이벤트 웨이브로 무한 루프에 리듬감 부여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0000"/>
              </a:lnSpc>
            </a:pP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0000"/>
              </a:lnSpc>
            </a:pPr>
            <a:r>
              <a:rPr b="0" lang="en-US" sz="17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•  </a:t>
            </a:r>
            <a:r>
              <a:rPr b="0" lang="ko-KR" sz="17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속성별 시각 이펙트 </a:t>
            </a:r>
            <a:r>
              <a:rPr b="0" lang="en-US" sz="17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· </a:t>
            </a:r>
            <a:r>
              <a:rPr b="0" lang="ko-KR" sz="17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사운드 강화로 상성 전투의 피드백 강화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0000"/>
              </a:lnSpc>
            </a:pP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0000"/>
              </a:lnSpc>
            </a:pPr>
            <a:r>
              <a:rPr b="0" lang="en-US" sz="17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•  </a:t>
            </a:r>
            <a:r>
              <a:rPr b="0" lang="ko-KR" sz="17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공격 모드 </a:t>
            </a:r>
            <a:r>
              <a:rPr b="0" lang="en-US" sz="17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· </a:t>
            </a:r>
            <a:r>
              <a:rPr b="0" lang="ko-KR" sz="17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보상 밸런스 데이터 수집 및 확률 테이블 튜닝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0000"/>
              </a:lnSpc>
            </a:pP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0000"/>
              </a:lnSpc>
            </a:pPr>
            <a:r>
              <a:rPr b="0" lang="en-US" sz="17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•  </a:t>
            </a:r>
            <a:r>
              <a:rPr b="0" lang="en-US" sz="17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iOS </a:t>
            </a:r>
            <a:r>
              <a:rPr b="0" lang="ko-KR" sz="1700" spc="-1" strike="noStrike">
                <a:solidFill>
                  <a:srgbClr val="222222"/>
                </a:solidFill>
                <a:latin typeface="Malgun Gothic"/>
                <a:ea typeface="Malgun Gothic"/>
              </a:rPr>
              <a:t>빌드 파이프라인 추가 및 스토어 출시 준비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33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Box 1"/>
          <p:cNvSpPr/>
          <p:nvPr/>
        </p:nvSpPr>
        <p:spPr>
          <a:xfrm>
            <a:off x="0" y="2834640"/>
            <a:ext cx="1219140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Thank You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Box 2"/>
          <p:cNvSpPr/>
          <p:nvPr/>
        </p:nvSpPr>
        <p:spPr>
          <a:xfrm>
            <a:off x="0" y="3657600"/>
            <a:ext cx="12191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d8bd4"/>
                </a:solidFill>
                <a:latin typeface="Malgun Gothic"/>
                <a:ea typeface="Malgun Gothic"/>
              </a:rPr>
              <a:t>CHAOS TOWER Project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Box 3"/>
          <p:cNvSpPr/>
          <p:nvPr/>
        </p:nvSpPr>
        <p:spPr>
          <a:xfrm>
            <a:off x="10607040" y="6492240"/>
            <a:ext cx="13712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b0c4d8"/>
                </a:solidFill>
                <a:latin typeface="Malgun Gothic"/>
                <a:ea typeface="Malgun Gothic"/>
              </a:rPr>
              <a:t>16/16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ko-KR</dc:language>
  <cp:lastModifiedBy/>
  <dcterms:modified xsi:type="dcterms:W3CDTF">2026-07-24T05:35:14Z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